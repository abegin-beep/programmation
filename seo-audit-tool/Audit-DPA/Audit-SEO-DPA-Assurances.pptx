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5A2B"/>
              </a:solidFill>
              <a:effectLst/>
            </c:spPr>
          </c:dPt>
          <c:dPt>
            <c:idx val="1"/>
            <c:bubble3D val="0"/>
            <c:spPr>
              <a:solidFill>
                <a:srgbClr val="1A3A5C"/>
              </a:solidFill>
              <a:effectLst/>
            </c:spPr>
          </c:dPt>
          <c:dPt>
            <c:idx val="2"/>
            <c:bubble3D val="0"/>
            <c:spPr>
              <a:solidFill>
                <a:srgbClr val="1E7B5A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Article EN 7 sons</c:v>
                </c:pt>
                <c:pt idx="1">
                  <c:v>Trafic de marque</c:v>
                </c:pt>
                <c:pt idx="2">
                  <c:v>Hors-marque hors-article</c:v>
                </c:pt>
                <c:pt idx="3">
                  <c:v>Autre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62</c:v>
                </c:pt>
                <c:pt idx="1">
                  <c:v>33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DPA Assurances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256032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37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d'audit complet — Avril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D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 ·  On-site  ·  Off-site  ·  Opportunités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379476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D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Préparé pour DPA Assurances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et méthodologie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L'AUDIT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786384"/>
          </a:xfrm>
          <a:prstGeom prst="rect">
            <a:avLst/>
          </a:prstGeom>
          <a:solidFill>
            <a:srgbClr val="FDF0EA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786384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07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Diagnostiquer la chute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581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la cause précise de la baisse de -46,6% depuis le 7 janvier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393192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21408"/>
            <a:ext cx="54864" cy="7863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Évaluer l'état SEO complet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Technique, contenu, maillage interne, présence locale et autorité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393192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08376"/>
            <a:ext cx="54864" cy="7863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81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Identifier les opportunités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355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absents, requêtes non couvertes, segments concurrentiels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393192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95344"/>
            <a:ext cx="54864" cy="7863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 d'action priorisé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242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trafic perdu et en générer du nouveau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ANALYSONS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41148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234440"/>
            <a:ext cx="54864" cy="7863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307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15819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Google peut lire et comprendre votre site sans obstacles 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121408"/>
            <a:ext cx="41148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121408"/>
            <a:ext cx="54864" cy="786384"/>
          </a:xfrm>
          <a:prstGeom prst="rect">
            <a:avLst/>
          </a:prstGeom>
          <a:solidFill>
            <a:srgbClr val="2E6BA8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chaque page communique clairement sur quoi elle se positionne 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008376"/>
            <a:ext cx="41148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008376"/>
            <a:ext cx="54864" cy="786384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081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355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d'autres sites de confiance recommandent le vôtre 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895344"/>
            <a:ext cx="41148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895344"/>
            <a:ext cx="54864" cy="7863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Concurrentiel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La Turquoise, Assurancia, Covalen, Lussier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résultats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2286000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914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-46,6%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92608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février 2025 et février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37744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37744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~784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021738"/>
            <a:ext cx="23774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143000"/>
            <a:ext cx="2377440" cy="14173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34440"/>
            <a:ext cx="2377440" cy="878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~419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021738"/>
            <a:ext cx="23774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FEF6E7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91840"/>
            <a:ext cx="54864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364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rupture identifié : 7 janvier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730752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baisse n'est pas progressive — elle est verticale. Elle correspond exactement à la migration de serveur de janvier 2026. Ce n'est pas un changement d'algorithme Google ni une tendance sectorielle. C'est un événement technique daté et identifiable.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Identifier la cause de la baisse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011680" cy="4937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09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jan.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problèmes critiques introduits simultanément lors de la migration 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283464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61872"/>
            <a:ext cx="2834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618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" y="1261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Redirections brisées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82880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une page change d'adresse, Google a besoin d'une "note de transfert" (redirection 301). Lors de la migration, ces redirections ont été mal configurées ou absentes.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Google a perdu le fil de vos pages et leur autorité accumulée.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4069080"/>
            <a:ext cx="2606040" cy="640080"/>
          </a:xfrm>
          <a:prstGeom prst="rect">
            <a:avLst/>
          </a:prstGeom>
          <a:solidFill>
            <a:srgbClr val="FDF0EA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096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Obtenir la table de redirections de l'agence, corriger et revalider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261872"/>
            <a:ext cx="283464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261872"/>
            <a:ext cx="2834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2618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76472" y="1261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de la version /en/ sans redirections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182880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site avait des pages anglaises avec un historique de trafic réel. Elles ont disparu sans redirection, emportant avec elles l'autorité accumulée sur ces URLs.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pages /en/ encore dans le sitemap sans redirection.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5848" y="4069080"/>
            <a:ext cx="2606040" cy="640080"/>
          </a:xfrm>
          <a:prstGeom prst="rect">
            <a:avLst/>
          </a:prstGeom>
          <a:solidFill>
            <a:srgbClr val="FDF0EA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4096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Rediriger chaque /en/ en 301 vers son équivalent /fr/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261872"/>
            <a:ext cx="283464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261872"/>
            <a:ext cx="2834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2618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48272" y="1261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vedette mis en noindex (bug)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182880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L'article "7 sons et bruits de la maison" en français a été bloqué à Google par erreur depuis janvier 2025. La version anglaise a continué de vivre — pas la française.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français : 7,6% vs 0,8% pour l'anglais. Les francophones cliquaient 10× plus.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27648" y="4069080"/>
            <a:ext cx="2606040" cy="640080"/>
          </a:xfrm>
          <a:prstGeom prst="rect">
            <a:avLst/>
          </a:prstGeom>
          <a:solidFill>
            <a:srgbClr val="FDF0EA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096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Changer noindex → index + réindexation via Google Search Console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du trafic organique actuel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22960"/>
          <a:ext cx="4114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617720" y="914400"/>
            <a:ext cx="4206240" cy="822960"/>
          </a:xfrm>
          <a:prstGeom prst="rect">
            <a:avLst/>
          </a:prstGeom>
          <a:solidFill>
            <a:srgbClr val="FDF0EA"/>
          </a:solidFill>
          <a:ln w="19050">
            <a:solidFill>
              <a:srgbClr val="E05A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17720" y="914400"/>
            <a:ext cx="54864" cy="8229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960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760720" y="969264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 sons et bruits"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1892808"/>
            <a:ext cx="4206240" cy="822960"/>
          </a:xfrm>
          <a:prstGeom prst="rect">
            <a:avLst/>
          </a:prstGeom>
          <a:solidFill>
            <a:srgbClr val="EBF2FA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892808"/>
            <a:ext cx="54864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9385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60720" y="1947672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de marque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(DPA, Groupe DPA)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17720" y="2871216"/>
            <a:ext cx="4206240" cy="822960"/>
          </a:xfrm>
          <a:prstGeom prst="rect">
            <a:avLst/>
          </a:prstGeom>
          <a:solidFill>
            <a:srgbClr val="E6F4EF"/>
          </a:solidFill>
          <a:ln w="19050">
            <a:solidFill>
              <a:srgbClr val="1E7B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2871216"/>
            <a:ext cx="54864" cy="822960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91693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760720" y="292608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Hors-marque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hors-article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17720" y="3849624"/>
            <a:ext cx="4206240" cy="82296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17720" y="3849624"/>
            <a:ext cx="54864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89534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760720" y="390448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(navigation directe)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L'article "7 sons et bruits" : le piège des 62%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Cet article génère 62% du trafic. C'est trompeur.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286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6187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261872"/>
            <a:ext cx="2560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12618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261872"/>
            <a:ext cx="35661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944" y="12618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09344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60934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géographique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51760" y="160934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60934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7% du trafic vient du Canada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0" y="1609344"/>
            <a:ext cx="3566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6093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 provient de France, Belgique, Afrique francophone — sans valeur commerciale pour DPA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956816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19568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 de recherche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51760" y="1956816"/>
            <a:ext cx="25603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195681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entend un bruit dans son plancher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1956816"/>
            <a:ext cx="3566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195681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quelqu'un qui cherche une assurance. L'intention est informationnelle.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304288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30428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avec l'assurance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230428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6624" y="23042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0" y="2304288"/>
            <a:ext cx="3566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66944" y="230428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lien évident entre "bruit dans la maison" et "souscrire une assurance"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51760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6517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51760" y="2651760"/>
            <a:ext cx="25603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26517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de zéro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2651760"/>
            <a:ext cx="3566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26517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trafic ne génère pas de soumissions ni de contacts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228600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29992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prioritaire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51760" y="2999232"/>
            <a:ext cx="2560320" cy="347472"/>
          </a:xfrm>
          <a:prstGeom prst="rect">
            <a:avLst/>
          </a:prstGeom>
          <a:solidFill>
            <a:srgbClr val="E6F4E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06624" y="299923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 noindex FR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12080" y="2999232"/>
            <a:ext cx="3566160" cy="347472"/>
          </a:xfrm>
          <a:prstGeom prst="rect">
            <a:avLst/>
          </a:prstGeom>
          <a:solidFill>
            <a:srgbClr val="E6F4E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66944" y="299923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 française (CTR 7,6%) est bloquée depuis jan. 2025 — trafic récupérable immédiatement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BF2FA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dépendre de cet article pour 62% du trafic, c'est construire sur du sable. L'objectif réel est de bâtir du trafic qualifié sur les pages produits.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technique — Priorités critiques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011680" cy="4937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09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CRITIQUE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229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822960"/>
            <a:ext cx="25603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0864" y="8229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8229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822960"/>
            <a:ext cx="12801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8229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170432"/>
            <a:ext cx="201168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170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Redirections brisées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1170432"/>
            <a:ext cx="256032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117043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#1 de la chute. Perte directe et structurelle de trafic.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170432"/>
            <a:ext cx="274320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17043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la table de redirections de l'agence, corriger et revalider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0" y="1170432"/>
            <a:ext cx="128016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44384" y="11704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Audrey + Agence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1517904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15179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"7 sons FR" en noindex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1517904"/>
            <a:ext cx="25603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40864" y="151790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 à Google depuis janvier 2025 — trafic récupérable immédiatement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1517904"/>
            <a:ext cx="2743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5179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noindex → index, follow + réindexation via GSC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9520" y="1517904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51790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1865376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18653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non mis à jour (déc. 2025)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1865376"/>
            <a:ext cx="25603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40864" y="186537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des pages 404, noindex, /node/ et /en/ — Google indexe des pages mortes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1865376"/>
            <a:ext cx="2743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18653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Régénérer le sitemap, retirer 404 / noindex / /en/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9520" y="1865376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44384" y="186537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2212848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" y="22128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/node/ dans le sitemap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0" y="2212848"/>
            <a:ext cx="25603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40864" y="22128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techniques sans valeur SEO (10 pages /node/, pages de remerciement)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212848"/>
            <a:ext cx="2743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22128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du sitemap + ajouter noindex sur chacune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89520" y="2212848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4384" y="22128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560320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25603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contradictoire /carrieres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0" y="2560320"/>
            <a:ext cx="25603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40864" y="25603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301 dit "va là-bas" mais le canonical dit "reviens ici" → 0 impression (-685)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2560320"/>
            <a:ext cx="2743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01184" y="25603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 canonical self-referencing + typo "courtierere"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9520" y="2560320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44384" y="25603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2907792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29077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pages /en/ encore dans le sitemap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0" y="2907792"/>
            <a:ext cx="25603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40864" y="29077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crawle des pages sans avenir — gaspillage de crawl budget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46320" y="2907792"/>
            <a:ext cx="27432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01184" y="290779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Rediriger chaque /en/ en 301 vers son équivalent /fr/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89520" y="2907792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44384" y="290779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technique — Priorités élevées et à planifier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 — ÉLEVÉE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143000"/>
            <a:ext cx="4754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manquant sur /nos-bureaux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0" y="1143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pertinence absent — aucun H1, contenu en H2/H3 seulement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3840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572768"/>
            <a:ext cx="47548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descriptions trop courtes (38 pages)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"Assurance automobile" = 2 mots. Google les réécrit. Aucune différenciation dans les SERP.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02536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2002536"/>
            <a:ext cx="4754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02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échoué (CLS 0,29 / max 0,1)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06240" y="2002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de classement raté. Ajouter width/height sur images, réserver espace carrousel, -755 Ko JS inutilisé.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432304"/>
            <a:ext cx="3840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432304"/>
            <a:ext cx="47548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32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dupliqué (dommage par eau)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06240" y="24323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 sait pas quelle version valoriser. Garder version blogue, rediriger l'autre en 301.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98648"/>
            <a:ext cx="859536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98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3 — À PLANIFIER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3218688"/>
            <a:ext cx="4754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18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images sans texte alternatif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06240" y="3218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alt descriptif sur chaque image (logos, icônes, photos)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593592"/>
            <a:ext cx="3840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3593592"/>
            <a:ext cx="47548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93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pages orphelines dans le sitemap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0" y="3593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aucun lien interne — intégrer à la navigation ou mettre en noindex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68496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68496"/>
            <a:ext cx="4754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9684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 incomplètes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06240" y="39684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LocalBusiness sur chaque bureau (adresse, tél, GPS) + FAQPage si Q/R existants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343400"/>
            <a:ext cx="3840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0" y="4343400"/>
            <a:ext cx="47548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343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carrières en 403 accessibles par Google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206240" y="4343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URLs — rediriger en 301 vers la page carrières principale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718304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0" y="4718304"/>
            <a:ext cx="4754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718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et PDFs brisés post-migration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06240" y="47183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ressources 404 — retrouver dans les backups ou retirer les références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on-site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site est très dépendant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votre notoriété de marque.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6576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gens qui vous trouvent vous connaissent déjà. Seulement 1% de votre trafic provient de personnes qui ne vous connaissent pas encore.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8046720" cy="1051560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94760"/>
            <a:ext cx="54864" cy="1051560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38587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nouvelle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417880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produits d'assurance génèrent de nombreuses questions avant qu'un client contacte un courtier. C'est une opportunité précieuse pour générer du trafic qualifié, renforcer votre crédibilité et favoriser les conversions — que le site n'exploite pas encore.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les utilisateurs recherchent vos produits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volumes de recherche mensuels au Québec — questions liées aux produits que vous vendez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3456432"/>
          </a:xfrm>
          <a:prstGeom prst="rect">
            <a:avLst/>
          </a:prstGeom>
          <a:solidFill>
            <a:srgbClr val="FDF0EA"/>
          </a:solidFill>
          <a:ln w="19050">
            <a:solidFill>
              <a:srgbClr val="E05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269748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2 600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/ mois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44368"/>
            <a:ext cx="2423160" cy="365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358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automobile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"est-ce obligatoire d'avoir une assurance auto ?"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298448"/>
            <a:ext cx="2697480" cy="3456432"/>
          </a:xfrm>
          <a:prstGeom prst="rect">
            <a:avLst/>
          </a:prstGeom>
          <a:solidFill>
            <a:srgbClr val="EBF2FA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98448"/>
            <a:ext cx="269748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389888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2 100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3246120" y="25786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/ mois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944368"/>
            <a:ext cx="242316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0358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habitation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"combien coûte une assurance habitation 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298448"/>
            <a:ext cx="2697480" cy="3456432"/>
          </a:xfrm>
          <a:prstGeom prst="rect">
            <a:avLst/>
          </a:prstGeom>
          <a:solidFill>
            <a:srgbClr val="E6F4EF"/>
          </a:solidFill>
          <a:ln w="19050">
            <a:solidFill>
              <a:srgbClr val="1E7B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98448"/>
            <a:ext cx="2697480" cy="64008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389888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6126480" y="25786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/ mois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944368"/>
            <a:ext cx="2423160" cy="36576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0358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entreprise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"combien coûte une assurance entreprise 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809744"/>
            <a:ext cx="841248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1888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analyse de mots-clés basée sur les produits DPA + analyse concurrentielle (La Turquoise, Assurancia, Covalen, Lussier)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vrai problème des pages actuelles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pages ne sont pas des pages de contenu — ce sont des pages de navigation déguisées. Elles disent "voici notre soumission" mais ne répondent à aucune question que le client se pose avant d'agir. Google positionne les pages qui répondent aux intentions de recherche.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286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554480"/>
            <a:ext cx="1920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15544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actuelle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1920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5544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recommandée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554480"/>
            <a:ext cx="2286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554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019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90195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par page produit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51760" y="1901952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19019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– 400 mots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901952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9019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– 2 000 mots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19019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190195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 à ×10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249424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24942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FAQ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2249424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6624" y="22494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page sur 20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249424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2494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2249424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24942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pages à créer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59689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59689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Glossaire assurance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51760" y="259689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259689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page sur 20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259689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259689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auto, habitation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92240" y="259689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7104" y="259689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créer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2944368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29443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liés sur les pages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51760" y="2944368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06624" y="294436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page sur 20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2944368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294436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2944368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29443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fait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29184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32918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orientés questions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651760" y="329184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06624" y="32918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sur /mon-auto ni /ma-maison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329184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26864" y="32918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H2 par page produit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92240" y="329184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47104" y="32918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invisibles sur longue traîne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E6F4EF"/>
          </a:solidFill>
          <a:ln w="19050">
            <a:solidFill>
              <a:srgbClr val="1E7B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251960"/>
            <a:ext cx="54864" cy="640080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à suivre — /cybersecurite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2064" y="4544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page la mieux structurée du site : H2 par besoin client, contenu dense avec stats, CTA intégré naturellement. Ce standard doit s'appliquer en priorité à /mon-auto et /ma-maison.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d'action — Contenu des pages services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011680" cy="493776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09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160520" cy="201168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41605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1704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de la page d'accueil : vide (bug template) → rédiger un H1 avec le mot-clé principal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5727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de /mon-auto et /ma-maison : "Automobile" / "Ma maison" → réécrire avec mots-clés (ex: "Assurance auto au Québec")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4160520" cy="2011680"/>
          </a:xfrm>
          <a:prstGeom prst="rect">
            <a:avLst/>
          </a:prstGeom>
          <a:solidFill>
            <a:srgbClr val="FDF0EA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822960"/>
            <a:ext cx="4160520" cy="3200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 — Contenu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1704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/travailleur-autonome : page la plus sous-optimisée — aucun H2 orienté questions, contenu insuffisant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15727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/assurances-commerciales : quasi-vide — impossible de se positionner sur "assurance entreprise Québec"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9751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FAQ structurées (+ Schema FAQPage) sur /mon-auto, /ma-maison, /condo pour les featured snippets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orientés questions sur /mon-auto et /ma-maison — les pages sont invisibles sur la longue traîne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999232"/>
            <a:ext cx="4160520" cy="2011680"/>
          </a:xfrm>
          <a:prstGeom prst="rect">
            <a:avLst/>
          </a:prstGeom>
          <a:solidFill>
            <a:srgbClr val="EBF2F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999232"/>
            <a:ext cx="416052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992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 — Maillage interne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346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bidirectionnel /ma-maison ↔ /mon-auto (combo auto+habitation = produit clé, lien évident inexistant)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749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personnalisés par page : remplacer "Obtenir une soumission" générique par un message contextuel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1513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de blogue sans liens vers pages produits → ajouter 1-2 liens contextuels par article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553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/dommage-par-eau : page orpheline, non liée depuis /ma-maison ni /mon-condo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999232"/>
            <a:ext cx="4160520" cy="2011680"/>
          </a:xfrm>
          <a:prstGeom prst="rect">
            <a:avLst/>
          </a:prstGeom>
          <a:solidFill>
            <a:srgbClr val="E6F4EF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999232"/>
            <a:ext cx="4160520" cy="320040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9992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— Nouvelles pages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3467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pilier "Pourquoi choisir un courtier" : transformer l'article de 2020 en landing page /fr/pourquoi-un-courtier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3749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locales par ville : DPA est 1er GMB à St-Hyacinthe et Drummondville — aucune page "assurance auto Saint-Hyacinthe"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1513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cybersécurité : enrichir avec Loi 25 / LPRPDE (la page la mieux structurée du site, à renforcer)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45537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condo : mentionner les changements Loi 16/141 (syndicats de copropriété)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Opportunités on-site — Produits particuliers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229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822960"/>
            <a:ext cx="1920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9424" y="8229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 chez la concurrence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822960"/>
            <a:ext cx="13716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9664" y="8229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822960"/>
            <a:ext cx="33832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41264" y="8229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recommandée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70432"/>
            <a:ext cx="192024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17043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véhicule électrique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94560" y="1170432"/>
            <a:ext cx="192024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117043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Belairdirect, Assur360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1170432"/>
            <a:ext cx="137160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9664" y="1170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croissance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1170432"/>
            <a:ext cx="338328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117043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/vehicule-electrique — marché en forte croissance, concurrence faible chez les courtiers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517904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151790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haute valeur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94560" y="1517904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9424" y="151790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Chubb, Lussier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0" y="1517904"/>
            <a:ext cx="13716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9664" y="151790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Faible–moyen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0" y="1517904"/>
            <a:ext cx="33832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151790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/particuliers/haute-valeur existe déjà — mais invisible : aucun lien interne vers elle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1865376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186537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animaux de compagnie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94560" y="1865376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9424" y="186537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CAA-Québec, Sonnet, Trupanion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0" y="1865376"/>
            <a:ext cx="13716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9664" y="1865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500–1 500/mois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1865376"/>
            <a:ext cx="33832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41264" y="186537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si DPA distribue ce produit — fort potentiel si oui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212848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21284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voyage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94560" y="2212848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49424" y="221284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Turquoise, CAA-Québec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0" y="2212848"/>
            <a:ext cx="13716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9664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 (saisonnier)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0" y="2212848"/>
            <a:ext cx="33832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41264" y="22128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si DPA distribue — fort volume saisonnier (jan-fév, juil-août)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560320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5603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chalet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94560" y="2560320"/>
            <a:ext cx="19202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49424" y="25603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commun Mauricie, Estrie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0" y="2560320"/>
            <a:ext cx="13716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69664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200–400/mois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0" y="2560320"/>
            <a:ext cx="33832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41264" y="2560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clientèle existante — cohérent avec la géographie DPA (Mauricie, Montérégie)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462272"/>
            <a:ext cx="8595360" cy="502920"/>
          </a:xfrm>
          <a:prstGeom prst="rect">
            <a:avLst/>
          </a:prstGeom>
          <a:solidFill>
            <a:srgbClr val="EBF2FA"/>
          </a:solidFill>
          <a:ln w="12700">
            <a:solidFill>
              <a:srgbClr val="2E6B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immédiate : la page /haute-valeur existe mais est complètement isolée. Ajouter des liens internes coûte 0 effort et peut générer des conversions dès cette semaine.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Opportunités on-site — Produits entreprises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229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/ Page à créer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822960"/>
            <a:ext cx="21031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40864" y="8229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concurrentiel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822960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8229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822960"/>
            <a:ext cx="24688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82296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70432"/>
            <a:ext cx="201168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170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omissions /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professionnelle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1170432"/>
            <a:ext cx="210312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1170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 chez 3 concurrents sur 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170432"/>
            <a:ext cx="201168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170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Consultants, comptables, ingénieurs, architectes, conseillers TI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1170432"/>
            <a:ext cx="2468880" cy="347472"/>
          </a:xfrm>
          <a:prstGeom prst="rect">
            <a:avLst/>
          </a:prstGeom>
          <a:solidFill>
            <a:srgbClr val="FDF0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1704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/assurances-entreprises/produits-specifiques/erreurs-et-omissions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517904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15179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hub Travailleurs autonomes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0" y="1517904"/>
            <a:ext cx="21031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40864" y="15179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habitation existante répond à la mauvaise intention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1517904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3984" y="15179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personne qui travaille de la maison ou facture des services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1517904"/>
            <a:ext cx="24688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151790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/travailleurs-autonomes comme page hub regroupant tous leurs besoins professionnels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1865376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18653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hub PME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0" y="1865376"/>
            <a:ext cx="21031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40864" y="186537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Covalen et Lussier captent le trafic non-spécifique avec une page "Assurance PME"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1865376"/>
            <a:ext cx="20116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43984" y="18653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Propriétaires de PME cherchant une couverture complète avant de segmenter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1865376"/>
            <a:ext cx="24688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18653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/assurances-entreprises/pme — page d'entrée avant orientation vers secteur spécifique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310128"/>
            <a:ext cx="85953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3832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le segment entreprises est sous-exploité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767328"/>
            <a:ext cx="54864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7307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recherche "assurance entreprise" 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11880" y="373075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recherches/mois — faible mais qualité de lead élevée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133088"/>
            <a:ext cx="54864" cy="2926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096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couverts mais non mis en avant :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11880" y="409651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construction, restauration, manufacturiers — pages existantes mais non trouvables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498848"/>
            <a:ext cx="54864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462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produits spécifiques trop courtes : 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11880" y="446227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 est le seul exemple à suivre — les autres sont quasi-vides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off-site — Autorité et backlinks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2011680"/>
          </a:xfrm>
          <a:prstGeom prst="rect">
            <a:avLst/>
          </a:prstGeom>
          <a:solidFill>
            <a:srgbClr val="FDF0EA"/>
          </a:solidFill>
          <a:ln w="254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SEMrush / 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pour une entreprise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35 000 clients et 80 ans d'histoire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822960"/>
            <a:ext cx="2011680" cy="123444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14400"/>
            <a:ext cx="2011680" cy="765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68880" y="1588313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référents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(majorité nofollow)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148840"/>
            <a:ext cx="20116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240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de qualité réels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 20+)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822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de qualité (DA 20+) — ce qui compte vraiment 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2286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14300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143000"/>
            <a:ext cx="6400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4304" y="11430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1143000"/>
            <a:ext cx="12801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114300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904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49047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santemonteregie.qc.ca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1490472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04304" y="149047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149047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49047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— lien éditorial régional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837944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183794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grenier.qc.ca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9440" y="1837944"/>
            <a:ext cx="6400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1837944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89520" y="1837944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183794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— média québécois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18541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1854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cegepmontpetit.ca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2185416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04304" y="218541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89520" y="218541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44384" y="218541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— institution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532888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253288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eebeauce.com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49440" y="2532888"/>
            <a:ext cx="6400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04304" y="253288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9520" y="2532888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44384" y="253288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— média régional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288036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28803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arpac.org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49440" y="2880360"/>
            <a:ext cx="640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04304" y="28803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89520" y="2880360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44384" y="28803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— association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227832"/>
            <a:ext cx="228600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32278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ccid.qc.ca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949440" y="3227832"/>
            <a:ext cx="6400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04304" y="322783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589520" y="3227832"/>
            <a:ext cx="12801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44384" y="32278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— chambre de commerce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3182112"/>
            <a:ext cx="85953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prioritaires off-site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3602736"/>
            <a:ext cx="47548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36027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14400" y="3566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fiche GMB pour Roxton Pond (acquisition récente sans fiche)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849624"/>
            <a:ext cx="47548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384962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14400" y="3813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la fiche Brossard : actuellement en 8e position (photos, description, posts réguliers)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65760" y="4096512"/>
            <a:ext cx="475488" cy="20116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09651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14400" y="4059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d'acquisition de liens — associations professionnelles, médias régionaux, partenaires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5760" y="4343400"/>
            <a:ext cx="475488" cy="20116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3434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14400" y="43068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collecte d'avis Google à Drummondville (53 avis seulement vs 426 à St-Hyacinthe)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65760" y="4590288"/>
            <a:ext cx="47548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59028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14400" y="45537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Désavouer les liens de scraping B2B (clodura, success.ai, salezshark)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71323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Business Profile — État des fiches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6459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229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Succursale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822960"/>
            <a:ext cx="10058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5104" y="82296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822960"/>
            <a:ext cx="822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82296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822960"/>
            <a:ext cx="731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82296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822960"/>
            <a:ext cx="43891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82296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&amp; 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170432"/>
            <a:ext cx="1645920" cy="347472"/>
          </a:xfrm>
          <a:prstGeom prst="rect">
            <a:avLst/>
          </a:prstGeom>
          <a:solidFill>
            <a:srgbClr val="E6F4E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17043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Saint-Hyacinthe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20240" y="1170432"/>
            <a:ext cx="1005840" cy="347472"/>
          </a:xfrm>
          <a:prstGeom prst="rect">
            <a:avLst/>
          </a:prstGeom>
          <a:solidFill>
            <a:srgbClr val="E6F4E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117043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1170432"/>
            <a:ext cx="822960" cy="347472"/>
          </a:xfrm>
          <a:prstGeom prst="rect">
            <a:avLst/>
          </a:prstGeom>
          <a:solidFill>
            <a:srgbClr val="E6F4E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80944" y="117043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1170432"/>
            <a:ext cx="731520" cy="347472"/>
          </a:xfrm>
          <a:prstGeom prst="rect">
            <a:avLst/>
          </a:prstGeom>
          <a:solidFill>
            <a:srgbClr val="E6F4E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11704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1170432"/>
            <a:ext cx="4389120" cy="347472"/>
          </a:xfrm>
          <a:prstGeom prst="rect">
            <a:avLst/>
          </a:prstGeom>
          <a:solidFill>
            <a:srgbClr val="E6F4E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1170432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à suivre — conserver le rythme de collecte d'avis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1517904"/>
            <a:ext cx="16459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51790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Drummondville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20240" y="1517904"/>
            <a:ext cx="100584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1517904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26080" y="1517904"/>
            <a:ext cx="82296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80944" y="151790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49040" y="1517904"/>
            <a:ext cx="7315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151790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1517904"/>
            <a:ext cx="43891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35424" y="1517904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note, peu d'avis — lancer une campagne de collecte (53 vs 426)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1865376"/>
            <a:ext cx="1645920" cy="347472"/>
          </a:xfrm>
          <a:prstGeom prst="rect">
            <a:avLst/>
          </a:prstGeom>
          <a:solidFill>
            <a:srgbClr val="FEF6E7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186537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Brossard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20240" y="1865376"/>
            <a:ext cx="1005840" cy="347472"/>
          </a:xfrm>
          <a:prstGeom prst="rect">
            <a:avLst/>
          </a:prstGeom>
          <a:solidFill>
            <a:srgbClr val="FEF6E7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75104" y="186537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0" y="1865376"/>
            <a:ext cx="822960" cy="347472"/>
          </a:xfrm>
          <a:prstGeom prst="rect">
            <a:avLst/>
          </a:prstGeom>
          <a:solidFill>
            <a:srgbClr val="FEF6E7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80944" y="186537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 ★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49040" y="1865376"/>
            <a:ext cx="731520" cy="347472"/>
          </a:xfrm>
          <a:prstGeom prst="rect">
            <a:avLst/>
          </a:prstGeom>
          <a:solidFill>
            <a:srgbClr val="FEF6E7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03904" y="1865376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80560" y="1865376"/>
            <a:ext cx="4389120" cy="347472"/>
          </a:xfrm>
          <a:prstGeom prst="rect">
            <a:avLst/>
          </a:prstGeom>
          <a:solidFill>
            <a:srgbClr val="FEF6E7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35424" y="1865376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insuffisante — optimiser : photos, posts, mots-clés dans description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212848"/>
            <a:ext cx="164592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21284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Roxton Pond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920240" y="2212848"/>
            <a:ext cx="100584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75104" y="221284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926080" y="2212848"/>
            <a:ext cx="82296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80944" y="22128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749040" y="2212848"/>
            <a:ext cx="73152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03904" y="221284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80560" y="2212848"/>
            <a:ext cx="4389120" cy="347472"/>
          </a:xfrm>
          <a:prstGeom prst="rect">
            <a:avLst/>
          </a:prstGeom>
          <a:solidFill>
            <a:srgbClr val="FDECE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35424" y="2212848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FICHE — acquisition récente, opportunité manquée à corriger en priorité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182112"/>
            <a:ext cx="859536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SEO local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11480" y="3566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volumes de recherche locaux sont faibles :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qui cherchent un courtier en assurance ne privilégient pas spécialement de solutions locales. </a:t>
            </a:r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potentiel d'attirer du trafic via le SEO local reste limité. 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11480" y="4023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Néanmoins :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plupart des villes, La Turquoise apparaît déjà dans les 3 premiers résultats. Les notes des fiches sont à 4+ étoiles — la réputation de DPA est solide. L'enjeu principal est la fiche manquante de Roxton Pond et la position de Brossard.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étapes recommandées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743200" cy="3611880"/>
          </a:xfrm>
          <a:prstGeom prst="rect">
            <a:avLst/>
          </a:prstGeom>
          <a:solidFill>
            <a:srgbClr val="1E497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7432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173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la table de redirections complète à l'agence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21854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 noindex de l'article 7 sons FR + réindexation GSC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95351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Régénérer le sitemap (retirer 404, noindex, /en/)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372160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fiche GMB pour Roxton Pond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987552"/>
            <a:ext cx="2743200" cy="3611880"/>
          </a:xfrm>
          <a:prstGeom prst="rect">
            <a:avLst/>
          </a:prstGeom>
          <a:solidFill>
            <a:srgbClr val="1E4976"/>
          </a:solidFill>
          <a:ln w="19050">
            <a:solidFill>
              <a:srgbClr val="E05A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987552"/>
            <a:ext cx="2743200" cy="3657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3–4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4173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Réécrire les H1 de /accueil, /mon-auto, /ma-maison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21854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Réécrire les meta descriptions (38 pages — gabarit fourni)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295351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les Core Web Vitals (CLS, images sans dimensions)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372160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Rediriger les pages /en/ en 301 vers les équivalents /fr/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987552"/>
            <a:ext cx="2743200" cy="3611880"/>
          </a:xfrm>
          <a:prstGeom prst="rect">
            <a:avLst/>
          </a:prstGeom>
          <a:solidFill>
            <a:srgbClr val="1E4976"/>
          </a:solidFill>
          <a:ln w="19050">
            <a:solidFill>
              <a:srgbClr val="1E7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987552"/>
            <a:ext cx="2743200" cy="365760"/>
          </a:xfrm>
          <a:prstGeom prst="rect">
            <a:avLst/>
          </a:prstGeom>
          <a:solidFill>
            <a:srgbClr val="1E7B5A"/>
          </a:solidFill>
          <a:ln w="12700">
            <a:solidFill>
              <a:srgbClr val="1E7B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2–3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1928" y="14173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/mon-auto et /ma-maison (1 500+ mots, H2 questions, FAQ Schema)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81928" y="21854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/travailleur-autonome et /assurances-commerciales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81928" y="295351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/erreurs-et-omissions et /assurances-entreprises/pme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1928" y="372160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00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la collecte d'avis GMB à Drummondville + optimiser Brossard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Assurances — Audit SEO Avril 2026 — Confidentiel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SEO — DPA Assurances</dc:title>
  <dc:subject>PptxGenJS Presentation</dc:subject>
  <dc:creator>PptxGenJS</dc:creator>
  <cp:lastModifiedBy>PptxGenJS</cp:lastModifiedBy>
  <cp:revision>1</cp:revision>
  <dcterms:created xsi:type="dcterms:W3CDTF">2026-04-16T14:59:33Z</dcterms:created>
  <dcterms:modified xsi:type="dcterms:W3CDTF">2026-04-16T14:59:33Z</dcterms:modified>
</cp:coreProperties>
</file>